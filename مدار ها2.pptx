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21945600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80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A5D5F-DFCD-4B0E-BF76-E86C15A1B5E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C2B67-3120-4C9E-8191-D1BD3FC46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0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C2B67-3120-4C9E-8191-D1BD3FC462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2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C2B67-3120-4C9E-8191-D1BD3FC462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5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sz="3100" b="1" dirty="0">
                <a:solidFill>
                  <a:srgbClr val="10463A"/>
                </a:solidFill>
                <a:latin typeface="Noto Naskh Arabic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sz="2700" b="1" dirty="0">
                <a:solidFill>
                  <a:srgbClr val="FFE1E1"/>
                </a:solidFill>
                <a:latin typeface="Noto Naskh Arabic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Noto Naskh Arabic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146442"/>
                </a:solidFill>
                <a:latin typeface="Noto Naskh Arabic"/>
              </a:rPr>
              <a:t>بیشتر | وعده‌های خداوند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417800" y="1042508"/>
            <a:ext cx="5684520" cy="3621056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۱. وعده یاری و نصرت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۲. وعده قبولی توبه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۳. وعده مغفرت و آمرزش و رحمت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۴. وعده بهشت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۵. وعده حتمی بودن قیامت و روز حسابرسی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۶. وعده نزول سکینه و آرامش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۷. وعده فراوانی روزی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۸. وعده بالا بردن درجات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96231E"/>
                </a:solidFill>
                <a:latin typeface="Noto Naskh Arabic"/>
              </a:rPr>
              <a:t>کمتر | وعده‌های شیطان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0" y="5953719"/>
            <a:ext cx="6126480" cy="3177345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۱. وعده فقر و امر به فحشا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۲. وعده آرزوهای طولانی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۳. وعده گمراه کردن فرزندان آدم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۴. وعده شرک و کفر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۵. وعده رسیدن به مقام و قدرت و جاودانگی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۶. وعده تقلید از نیاکان و انحراف از دین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۷. وعده دوستی با دشمنان خدا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sz="1400" b="1" dirty="0">
                <a:solidFill>
                  <a:srgbClr val="FFFFFF"/>
                </a:solidFill>
                <a:latin typeface="Noto Naskh Arabic"/>
              </a:rPr>
              <a:t>مدارهای بالاتر: سبز روشن  |  مدارهای پایین‌تر: قرمز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DAFA37-754D-46ED-8180-7CBEEAE406BF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1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۵- قدرتی به کسی ندادن  |  ۶- ...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4C9C1-4134-4D84-9A47-AA2C69202F05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sz="3200" b="1" dirty="0">
                <a:solidFill>
                  <a:srgbClr val="FFFFFF"/>
                </a:solidFill>
                <a:latin typeface="Noto Naskh Arabic"/>
              </a:rPr>
              <a:t>عمل + باور = (خواسته‌ها − نتیجه − هدف)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sz="3100" b="1" dirty="0">
                <a:solidFill>
                  <a:srgbClr val="10463A"/>
                </a:solidFill>
                <a:latin typeface="Noto Naskh Arabic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sz="2700" b="1" dirty="0">
                <a:solidFill>
                  <a:srgbClr val="FFE1E1"/>
                </a:solidFill>
                <a:latin typeface="Noto Naskh Arabic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Noto Naskh Arabic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400" y="1188744"/>
            <a:ext cx="5684520" cy="35697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۱۹. وعده رفع غم و اندوه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۱۰. وعده استجابت دعا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۱۱. وعده دیدن جمال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۱۲. وعده هدایت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۱۳. وعده برکت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۱۴. وعده نور و هدایت در تاریکی‌ها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۱۵. وعده استخلاف و وارث بودن صالحان و مستضعفین بر زمین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50440" y="5849456"/>
            <a:ext cx="6126480" cy="3177345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endParaRPr lang="fa-IR" sz="2500" dirty="0">
              <a:latin typeface="Noto Naskh Arabic"/>
            </a:endParaRP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۸. وعده نجات دروغین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۹. وعده ترساندن مؤمنان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۱۰. وعده تسویف و دور کردن توبه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۱۱. وعده بخشش گناهان و بی‌اهمیت جلوه دادن گناه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۱۲. وعده ایجاد شک و شبهه در اصول و اعتقادات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۱۳. وعده غفلت و فراموشی خدا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75B6D-7CAA-4601-92E2-A9F70B806304}"/>
              </a:ext>
            </a:extLst>
          </p:cNvPr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146442"/>
                </a:solidFill>
                <a:latin typeface="Noto Naskh Arabic"/>
              </a:rPr>
              <a:t>بیشتر | وعده‌های خداوند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0B8203-EC4D-4C26-85B3-99DB1C7A3406}"/>
              </a:ext>
            </a:extLst>
          </p:cNvPr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96231E"/>
                </a:solidFill>
                <a:latin typeface="Noto Naskh Arabic"/>
              </a:rPr>
              <a:t>کمتر | وعده‌های شیطان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158FE5-29C9-41FC-A82E-D434A69A9464}"/>
              </a:ext>
            </a:extLst>
          </p:cNvPr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sz="1400" b="1" dirty="0">
                <a:solidFill>
                  <a:srgbClr val="FFFFFF"/>
                </a:solidFill>
                <a:latin typeface="Noto Naskh Arabic"/>
              </a:rPr>
              <a:t>مدارهای بالاتر: سبز روشن  |  مدارهای پایین‌تر: قرمز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5966B7-A3A9-42DA-8BA3-186FBB7C88E4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1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۵- قدرتی به کسی ندادن  |  ۶- ...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B3E35B-7BF3-4F23-9117-E479A89A509B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sz="3200" b="1" dirty="0">
                <a:solidFill>
                  <a:srgbClr val="FFFFFF"/>
                </a:solidFill>
                <a:latin typeface="Noto Naskh Arabic"/>
              </a:rPr>
              <a:t>عمل + باور = (خواسته‌ها − نتیجه − هدف)</a:t>
            </a:r>
          </a:p>
        </p:txBody>
      </p:sp>
    </p:spTree>
    <p:extLst>
      <p:ext uri="{BB962C8B-B14F-4D97-AF65-F5344CB8AC3E}">
        <p14:creationId xmlns:p14="http://schemas.microsoft.com/office/powerpoint/2010/main" val="222037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ide_cinematic_clean_infographic_infographic_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945600" cy="1234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32120" y="320040"/>
            <a:ext cx="6858000" cy="57246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Naskh Arabic"/>
              </a:defRPr>
            </a:pPr>
            <a:r>
              <a:rPr lang="fa-IR" sz="3100" b="1" dirty="0">
                <a:solidFill>
                  <a:srgbClr val="10463A"/>
                </a:solidFill>
                <a:latin typeface="Noto Naskh Arabic"/>
              </a:rPr>
              <a:t>به سمت خدا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1475720"/>
            <a:ext cx="6858000" cy="510909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FFEBEB"/>
                </a:solidFill>
                <a:latin typeface="Noto Naskh Arabic"/>
              </a:defRPr>
            </a:pPr>
            <a:r>
              <a:rPr lang="fa-IR" sz="2700" b="1" dirty="0">
                <a:solidFill>
                  <a:srgbClr val="FFE1E1"/>
                </a:solidFill>
                <a:latin typeface="Noto Naskh Arabic"/>
              </a:rPr>
              <a:t>به سمت شیطان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46442"/>
                </a:solidFill>
                <a:latin typeface="Noto Naskh Arabic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8978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102D45"/>
                </a:solidFill>
                <a:latin typeface="Noto Naskh Arabic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7208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75438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3667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91897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FFFFFF"/>
                </a:solidFill>
                <a:latin typeface="Noto Naskh Arabic"/>
              </a:defRPr>
            </a:pPr>
            <a:r>
              <a:rPr lang="fa-IR" sz="1900" b="1">
                <a:solidFill>
                  <a:srgbClr val="96231E"/>
                </a:solidFill>
                <a:latin typeface="Noto Naskh Arabic"/>
              </a:rPr>
              <a:t>−10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92400" y="1173355"/>
            <a:ext cx="5684520" cy="3126049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۱۶. وعده گشایش در کار و زندگی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۱۷. وعده افزایش علم و حکمت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۱۸. وعده رحمت خاص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۱۹. وعده یاری با فرشتگان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۲۰. وعده رهایی از عذاب جهنم برای مؤمنان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6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۲۱. وعده شفاعت، حشر با اولیای الهی، بخشش با اعمال صالح، ارتقا درجات بهشتی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71420" y="5855664"/>
            <a:ext cx="6126480" cy="3569760"/>
          </a:xfrm>
          <a:prstGeom prst="rect">
            <a:avLst/>
          </a:prstGeom>
          <a:noFill/>
        </p:spPr>
        <p:txBody>
          <a:bodyPr wrap="square" lIns="128016" tIns="73152" rIns="128016" bIns="73152" anchor="ctr">
            <a:spAutoFit/>
          </a:bodyPr>
          <a:lstStyle/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۱۴. وعده برتری و کمال کاذب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۱۵. وعده حسادت، کینه و عداوت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۱۶. وعده تنبلی و سستی در واجبات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۱۷. وعده ناامیدی از رحمت خدا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۱۸. وعده آزادی مطلق و رهایی از قید و بندها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۱۹. وعده ایمن ماندن از آزمایش و عذاب الهی</a:t>
            </a:r>
          </a:p>
          <a:p>
            <a:pPr algn="r" rtl="1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  <a:defRPr sz="880" b="0">
                <a:solidFill>
                  <a:srgbClr val="1E262C"/>
                </a:solidFill>
                <a:latin typeface="Noto Naskh Arabic"/>
              </a:defRPr>
            </a:pPr>
            <a:r>
              <a:rPr lang="fa-IR" sz="2500" b="0" dirty="0">
                <a:solidFill>
                  <a:srgbClr val="1E262C"/>
                </a:solidFill>
                <a:latin typeface="Noto Naskh Arabic"/>
              </a:rPr>
              <a:t>۲۰. وعده گناهانی مانند ربا، دروغ، غیبت، تهمت، ریا، خیانت، بخل، شرک و احتکار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C15087-A8DA-4753-B59C-DB770897A73D}"/>
              </a:ext>
            </a:extLst>
          </p:cNvPr>
          <p:cNvSpPr txBox="1"/>
          <p:nvPr/>
        </p:nvSpPr>
        <p:spPr>
          <a:xfrm>
            <a:off x="14538960" y="594360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146442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146442"/>
                </a:solidFill>
                <a:latin typeface="Noto Naskh Arabic"/>
              </a:rPr>
              <a:t>بیشتر | وعده‌های خداوند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0C99D4-9A02-46BA-AD15-7DFF30C653E7}"/>
              </a:ext>
            </a:extLst>
          </p:cNvPr>
          <p:cNvSpPr txBox="1"/>
          <p:nvPr/>
        </p:nvSpPr>
        <p:spPr>
          <a:xfrm>
            <a:off x="14356080" y="5448526"/>
            <a:ext cx="5943600" cy="449354"/>
          </a:xfrm>
          <a:prstGeom prst="rect">
            <a:avLst/>
          </a:prstGeom>
          <a:noFill/>
        </p:spPr>
        <p:txBody>
          <a:bodyPr wrap="square" lIns="109728" tIns="9144" rIns="109728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96231E"/>
                </a:solidFill>
                <a:latin typeface="Noto Naskh Arabic"/>
              </a:defRPr>
            </a:pPr>
            <a:r>
              <a:rPr lang="fa-IR" sz="2200" b="1" dirty="0">
                <a:solidFill>
                  <a:srgbClr val="96231E"/>
                </a:solidFill>
                <a:latin typeface="Noto Naskh Arabic"/>
              </a:rPr>
              <a:t>کمتر | وعده‌های شیطان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B8D229-48C9-4166-B388-92A2F7E5A960}"/>
              </a:ext>
            </a:extLst>
          </p:cNvPr>
          <p:cNvSpPr txBox="1"/>
          <p:nvPr/>
        </p:nvSpPr>
        <p:spPr>
          <a:xfrm>
            <a:off x="7040880" y="10287768"/>
            <a:ext cx="7386320" cy="1930785"/>
          </a:xfrm>
          <a:prstGeom prst="rect">
            <a:avLst/>
          </a:prstGeom>
          <a:noFill/>
        </p:spPr>
        <p:txBody>
          <a:bodyPr wrap="square" lIns="109728" tIns="36576" rIns="109728" bIns="36576" anchor="ctr">
            <a:spAutoFit/>
          </a:bodyPr>
          <a:lstStyle/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1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چطوری وارد مدارهای بالاتر بشیم؟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با ورودی‌های ذهن: همان ۵ آیه اول سوره حمد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۱- باور فراوانی  |  ۲- باور شکرگذاری از خداوند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۳- باور یکتاپرستی و موحد بودن  |  ۴- باور عدم شرک</a:t>
            </a:r>
          </a:p>
          <a:p>
            <a:pPr algn="r" rtl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02D45"/>
                </a:solidFill>
                <a:latin typeface="Noto Naskh Arabic"/>
              </a:defRPr>
            </a:pPr>
            <a:r>
              <a:rPr lang="fa-IR" sz="2400" b="0" dirty="0">
                <a:solidFill>
                  <a:srgbClr val="102D45"/>
                </a:solidFill>
                <a:highlight>
                  <a:srgbClr val="00FF00"/>
                </a:highlight>
                <a:latin typeface="Noto Naskh Arabic"/>
              </a:rPr>
              <a:t>۵- قدرتی به کسی ندادن  |  ۶- ...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919C54-033A-4F7F-9803-0549F71DCA8A}"/>
              </a:ext>
            </a:extLst>
          </p:cNvPr>
          <p:cNvSpPr txBox="1"/>
          <p:nvPr/>
        </p:nvSpPr>
        <p:spPr>
          <a:xfrm>
            <a:off x="640080" y="10698480"/>
            <a:ext cx="640080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Naskh Arabic"/>
              </a:defRPr>
            </a:pPr>
            <a:r>
              <a:rPr lang="fa-IR" sz="1400" b="1" dirty="0">
                <a:solidFill>
                  <a:srgbClr val="FFFFFF"/>
                </a:solidFill>
                <a:latin typeface="Noto Naskh Arabic"/>
              </a:rPr>
              <a:t>مدارهای بالاتر: سبز روشن  |  مدارهای پایین‌تر: قرمز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D5B361-62CE-4C37-8654-EEA0717C974C}"/>
              </a:ext>
            </a:extLst>
          </p:cNvPr>
          <p:cNvSpPr txBox="1"/>
          <p:nvPr/>
        </p:nvSpPr>
        <p:spPr>
          <a:xfrm>
            <a:off x="982980" y="10012680"/>
            <a:ext cx="6446520" cy="585288"/>
          </a:xfrm>
          <a:prstGeom prst="rect">
            <a:avLst/>
          </a:prstGeom>
          <a:noFill/>
        </p:spPr>
        <p:txBody>
          <a:bodyPr wrap="square" lIns="137160" rIns="137160" anchor="ctr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  <a:defRPr sz="2400" b="1">
                <a:solidFill>
                  <a:srgbClr val="FFFFFF"/>
                </a:solidFill>
                <a:latin typeface="Noto Naskh Arabic"/>
              </a:defRPr>
            </a:pPr>
            <a:r>
              <a:rPr lang="fa-IR" sz="3200" b="1" dirty="0">
                <a:solidFill>
                  <a:srgbClr val="FFFFFF"/>
                </a:solidFill>
                <a:latin typeface="Noto Naskh Arabic"/>
              </a:rPr>
              <a:t>عمل + باور = (خواسته‌ها − نتیجه − هدف)</a:t>
            </a:r>
          </a:p>
        </p:txBody>
      </p:sp>
    </p:spTree>
    <p:extLst>
      <p:ext uri="{BB962C8B-B14F-4D97-AF65-F5344CB8AC3E}">
        <p14:creationId xmlns:p14="http://schemas.microsoft.com/office/powerpoint/2010/main" val="1311440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618</Words>
  <Application>Microsoft Office PowerPoint</Application>
  <PresentationFormat>Custom</PresentationFormat>
  <Paragraphs>107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Noto Naskh Arabic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DELL</dc:creator>
  <cp:keywords/>
  <dc:description>generated using python-pptx</dc:description>
  <cp:lastModifiedBy>DELL</cp:lastModifiedBy>
  <cp:revision>7</cp:revision>
  <dcterms:created xsi:type="dcterms:W3CDTF">2013-01-27T09:14:16Z</dcterms:created>
  <dcterms:modified xsi:type="dcterms:W3CDTF">2026-10-12T03:39:15Z</dcterms:modified>
  <cp:category/>
</cp:coreProperties>
</file>